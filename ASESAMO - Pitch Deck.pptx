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ASESAMO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623"/>
                </a:solidFill>
              </a:rPr>
              <a:t>Seguridad · Higiene Industrial · Cumplimiento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9144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Control de contratistas, REPSE y NOMs en tiempo real
desde cualquier celular.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SaaS B2B  ·  México  ·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🚨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Las plantas industriales en México operan con riesgos legales y operativos críticos sin resolver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9728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09728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1️⃣  Contratista con REPSE vencido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La empresa absorbe el 100% de la deuda del IMSS del contratista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30000" cy="109728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09728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2️⃣  Trabajador sin permiso sufre accidente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Multa STPS: $250,000 – $1,000,000 MXN + paro de operaciones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11430000" cy="109728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09728" cy="1097280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3️⃣  Registro de herramientas en papel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15–20 min por contratista. Filas, errores y robos sin evidencia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⚡  El 95% de las plantas en México tiene al menos 2 omisiones graves en los expedientes de sus contratistas.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💡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Una plataforma que conecta el expediente legal del contratista con la caseta en tiempo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661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📱  CONTRATISTA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Sube DC-3, REPSE, SUA e INE desde su celular antes de llegar a planta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6616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🚪  CASETA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Guardia escanea QR.
🟢 VERDE = Pasa
🔴 ROJO = Bloqueado automáticamente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566160" cy="109728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7C8"/>
                </a:solidFill>
              </a:rPr>
              <a:t>📊 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Dashboard en tiempo real:
• Quién está adentro
• Docs por vencer
• Exposición legal $$$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29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✅  Check-in en 5 segundos con código QR desde cualquier celular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76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✅  Valida DC-3, REPSE, SUA, INE y exámenes médicos automáticamente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72414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✅  Bloquea el acceso si algún documento está vencido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0716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✅  Alertas automáticas 7 días antes del vencimiento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🎯  Mercado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~59,500 plantas industriales en México. TAM: $2,130M MXN/año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Plantas estimadas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Ticket/mes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Mercado Anual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🟢  Starter  (PyME)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~45,000 plantas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$1,999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$1,079M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🔵  Industrial Pro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~12,000 plantas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$4,800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$691M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🔴  Enterprise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~2,500 plantas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$12,000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$360M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TOTAL  TAM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~59,500 plantas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$2,130M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566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📍  Geografía Prioritaria — Fase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023360"/>
            <a:ext cx="3566160" cy="146304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NORTE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Monterrey · Saltillo
Tijuana · Juárez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023360"/>
            <a:ext cx="3566160" cy="146304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BAJÍO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34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Querétaro · Guanajuato
San Luis Potosí · León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023360"/>
            <a:ext cx="3566160" cy="146304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CENTRO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Edomex · Puebla · CDMX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23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🔥  Industrias calientes: Alimentos y Bebidas · Automotriz · Logística / CEDIS · Construcción Industrial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🏆  Panorama Competitivo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El mercado tiene una brecha enorme: nadie atiende a la PyME industrial con una solución integral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Competidor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Precio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¿Resuelve campo?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¿Accesible PyME?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Twind / CTAIMA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Alto (enterprise)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Parcialmente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Clave 10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ISOTools / HSETools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Parcialmente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Dokify / e-coordina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Muy alto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Parcialmente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Verifty / FAMA REPSE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Medio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Solo fiscal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SafetyCulture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Medio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Solo campo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Parcialmente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★  ASESAMO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Bajo – Medio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✅  Integral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✅  Sí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solidFill>
            <a:srgbClr val="0D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28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🎯  Nuestra ventaja: Único en combinar precio accesible para PyME + integración operativa-legal completa + IA para documentos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📦  Producto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MVP enfocado → crecimiento modular → diferenciación con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4114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6616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3364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FASE 1  —  MVP
Mes 1 –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76272"/>
            <a:ext cx="3364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① Check-in QR en caseta
② Portal del Contratista
③ Semáforo Documental
④ Dashboard Gerente EHS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4462272"/>
            <a:ext cx="3346704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526280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CC71"/>
                </a:solidFill>
              </a:rPr>
              <a:t>Lo que genera los primeros ingresos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66160" cy="4114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56616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463040"/>
            <a:ext cx="3364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FASE 2  —  CRECIMIENTO
Mes 6 –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76272"/>
            <a:ext cx="3364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⑤ Inducción Express (LMS)
⑥ PTAR Digital (alto riesgo)
⑦ Reporte de Incidentes
⑧ Checklist EPP móvil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4462272"/>
            <a:ext cx="3346704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526280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Sube el ARPU y reduce el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3566160" cy="4114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566160" cy="91440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463040"/>
            <a:ext cx="3364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7C8"/>
                </a:solidFill>
              </a:rPr>
              <a:t>FASE 3  —  IA PREMIUM
Mes 11 –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176272"/>
            <a:ext cx="3364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⑨ OCR Inteligente de docs
⑩ Visión Artificial de EPP
⑪ EHS Copilot (asesor IA)
⑫ LOTO Digital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9327" y="4462272"/>
            <a:ext cx="3346704" cy="36576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526280"/>
            <a:ext cx="3364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87C8"/>
                </a:solidFill>
              </a:rPr>
              <a:t>Diferenciación Enterprise imposible de copiar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💰 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Suscripción mensual recurrente (SaaS) con múltiples fuentes de monetización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Precio / mes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Contratistas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Incluye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🟢  Starter (PyME)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$1,999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Hasta 25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QR check-in · Portal · Alertas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🔵  Industrial Pro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$4,800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Hasta 150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+ PTAR · LMS · Incidentes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🔴  Enterprise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$9,500 – $16,000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Ilimitados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+ APIs torniquetes · IA · Integraciones ERP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Fuentes adicionales de ingresos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11430000" cy="749808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💼  Modelo Paga el Contratista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7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$150 – $350 MXN por trabajador / año para mantener expediente activo en la plataforma.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11430000" cy="749808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73152" cy="749808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7C8"/>
                </a:solidFill>
              </a:rPr>
              <a:t>🤖  Módulo IA Premium (Add-on)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56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OCR + Visión EPP: $500 – $1,500 MXN/mes adicionales sobre cualquier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40679"/>
            <a:ext cx="11430000" cy="749808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440679"/>
            <a:ext cx="73152" cy="7498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863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🤝  Canal Aliados (comisión 17.5%)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2472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Recurrente de por vida para consultores EHS y despachos laborales que refieran clientes.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📊  Métricas Unitarias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Un modelo de negocio altamente eficiente en 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1828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$4,540 MXN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ARPA
(ingreso por cliente / mes)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25880"/>
            <a:ext cx="2743200" cy="1828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91440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87C8"/>
                </a:solidFill>
              </a:rPr>
              <a:t>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Churn mensual
esperado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828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74320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</a:rPr>
              <a:t>$252,222 MXN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LTV
(escenario base)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25880"/>
            <a:ext cx="2743200" cy="18288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25880"/>
            <a:ext cx="27432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554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$3,800 MXN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CAC blended
(costo por cliente)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37560"/>
            <a:ext cx="11430000" cy="1234440"/>
          </a:xfrm>
          <a:prstGeom prst="rect">
            <a:avLst/>
          </a:prstGeom>
          <a:solidFill>
            <a:srgbClr val="0D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C71"/>
                </a:solidFill>
              </a:rPr>
              <a:t>LTV / CAC  =  66×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Benchmark saludable para un SaaS: ≥ 3×   |   Payback del CAC: &lt; 2 meses   |   Margen bruto real: 43%–50%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475488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Clientes de pago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¿Cubre costos?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10 clientes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$45,400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❌  No cubre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17 clientes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$77,180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✅  Break-even Fase 1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25 clientes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$113,500 MXN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✅  Break-even Fase 2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58 clientes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$263,320 MXN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✅  Meta Año 1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📈  Proyección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Escenario base — primeros 18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Indicador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🟢 Optimista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🟡 Base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🔴 Pesimista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Clientes mes 12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MRR mes 12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$431,300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$263,320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$99,880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ARR año 1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$5.2M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$3.2M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$1.2M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Break-even mensual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4–5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6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13–14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Recuperación inversión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9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12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20+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Capital requerido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$280K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$500K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$800K+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ARR Proyectado por Año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17720"/>
            <a:ext cx="3566160" cy="16459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617720"/>
            <a:ext cx="356616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Año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58 clientes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$3.2M MXN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~$160K USD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617720"/>
            <a:ext cx="3566160" cy="16459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617720"/>
            <a:ext cx="356616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Año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180 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$9.8M MXN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~$490K USD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617720"/>
            <a:ext cx="3566160" cy="16459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617720"/>
            <a:ext cx="3566160" cy="91440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87C8"/>
                </a:solidFill>
              </a:rPr>
              <a:t>Año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400 clientes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$21.8M MXN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~$1.09M USD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🛡️  Estrategia de Ventas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Proceso de cierre en 2–4 semanas con oferta irresistible de entrada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219456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PASO 1
Demo 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945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Mostramos multas STPS, caseta saturada y app móvil en vivo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219456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481328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PASO 2
Piloto 14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1945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 caseta real, 2 contratistas reales. Sin costo, sin riesgo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219456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109728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481328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7C8"/>
                </a:solidFill>
              </a:rPr>
              <a:t>PASO 3
Revisión con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945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Presentamos: 3 DC-3 vencidos detectados.
Tiempo de ingreso -70%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219456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27432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481328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PASO 4
Contrato 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194560"/>
            <a:ext cx="2542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Cierre. Opción anualidad: 2 meses gratis = -16% sobre precio de lista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430000" cy="1554480"/>
          </a:xfrm>
          <a:prstGeom prst="rect">
            <a:avLst/>
          </a:prstGeom>
          <a:solidFill>
            <a:srgbClr val="1A2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67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🐴  El Caballo de Troya — Oferta de Entrada Gratuita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"Permítenos auditar de forma confidencial los últimos 5 expedientes de contratistas. Si encontramos omisiones que te expongan a una multa de la STPS, te entregamos el reporte legal sin costo."
→  El 95% de las plantas tiene al menos 2 omisiones graves. Al ver su propio riesgo, la venta queda prácticamente cerrada.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65760" y="534924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Canal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CAC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Escalabilidad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🤝  Alianzas (consultores EHS, aseguradoras, despachos)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Bajo (comisión diferida)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🟢  Muy alta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📱  Outbound LinkedIn + visitas a parques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$4,500 MXN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🟡  Media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📝  Inbound (SEO, webinars, herramientas gratuitas)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$2,000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🟢  Alta a LP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🗓️  Roadmap de Ejecución — 18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515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Actividad Principal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Meta Comercial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1–2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Desarrollo MVP (4 módulos core). 2 pilotos gratuitos en casetas reales.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0 clientes pago · Validación de producto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3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Lanzamiento comercial. Diagnósticos REPSE gratuitos. LinkedIn outbound.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3 clientes de pago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4–5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5 aliados EHS activos. Primeros artículos SEO. Demos 2x/semana.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12 clientes de pago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6  ★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Break-even mensual. Inicio desarrollo Fase 2 (PTAR, LMS).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18 clientes · MRR $81K MXN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7–9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Módulos Fase 2 en producción. Primer caso de éxito publicado.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37 clientes de pago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10–12 ★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Break-even acumulado. Webinar mensual. Canal aliados consolidado.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58 clientes · ARR $3.2M MXN</a:t>
                      </a:r>
                    </a:p>
                  </a:txBody>
                  <a:tcPr>
                    <a:solidFill>
                      <a:srgbClr val="0D3D1C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13–18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Módulos IA (OCR, Visión EPP, Copilot). Expansión segunda ciudad.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108 clientes · ARR $5.9M MXN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🧮  Inversión Requerida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Capital necesario para llegar al break-even sin depender de inversión externa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109728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$500,000 MXN  (~$25,000 USD)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Capital requerido para 12 meses de operación hasta break-even acumulado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409651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2514600"/>
            <a:ext cx="3218687" cy="457200"/>
          </a:xfrm>
          <a:prstGeom prst="rect">
            <a:avLst/>
          </a:prstGeom>
          <a:solidFill>
            <a:srgbClr val="1A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58775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56%  –  Desarrollo del producto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755648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21408" y="3246120"/>
            <a:ext cx="5559552" cy="457200"/>
          </a:xfrm>
          <a:prstGeom prst="rect">
            <a:avLst/>
          </a:prstGeom>
          <a:solidFill>
            <a:srgbClr val="1A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3192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24%  –  Ventas y prospección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877824" cy="457200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43584" y="3977639"/>
            <a:ext cx="6437376" cy="457200"/>
          </a:xfrm>
          <a:prstGeom prst="rect">
            <a:avLst/>
          </a:prstGeom>
          <a:solidFill>
            <a:srgbClr val="1A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050791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12%  –  Legal, contabilidad y marca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585216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" y="4709160"/>
            <a:ext cx="6729984" cy="457200"/>
          </a:xfrm>
          <a:prstGeom prst="rect">
            <a:avLst/>
          </a:prstGeom>
          <a:solidFill>
            <a:srgbClr val="1A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7823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8%  –  Contingencia e infraestructura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5486400"/>
          <a:ext cx="1143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Hito alcanzado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D1B2A"/>
                          </a:solidFill>
                        </a:rPr>
                        <a:t>Mes</a:t>
                      </a:r>
                    </a:p>
                  </a:txBody>
                  <a:tcPr>
                    <a:solidFill>
                      <a:srgbClr val="F5A623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MVP en producción + primeros 3 clientes de pago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3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18 clientes de pago, break-even mensual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6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58 clientes, recuperación total de inversión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12</a:t>
                      </a:r>
                    </a:p>
                  </a:txBody>
                  <a:tcPr>
                    <a:solidFill>
                      <a:srgbClr val="1A345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108 clientes, ARR $5.9M MXN, módulos IA activos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Mes 18</a:t>
                      </a:r>
                    </a:p>
                  </a:txBody>
                  <a:tcPr>
                    <a:solidFill>
                      <a:srgbClr val="1126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👥  Equipo Fundador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36576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1554480"/>
            <a:ext cx="1280160" cy="1280160"/>
          </a:xfrm>
          <a:prstGeom prst="ellipse">
            <a:avLst/>
          </a:prstGeom>
          <a:solidFill>
            <a:srgbClr val="2A4A65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66420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CEO / Fundador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</a:rPr>
              <a:t>Ventas · Producto · Visión estratégica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Experiencia en industria / seguridad industrial
o ventas B2B. Conocimiento del dolor del
mercado desde adentro.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66160" cy="36576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566160" cy="109728"/>
          </a:xfrm>
          <a:prstGeom prst="rect">
            <a:avLst/>
          </a:prstGeom>
          <a:solidFill>
            <a:srgbClr val="1A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1554480"/>
            <a:ext cx="1280160" cy="1280160"/>
          </a:xfrm>
          <a:prstGeom prst="ellipse">
            <a:avLst/>
          </a:prstGeom>
          <a:solidFill>
            <a:srgbClr val="2A4A65"/>
          </a:solidFill>
          <a:ln w="25400">
            <a:solidFill>
              <a:srgbClr val="1A8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66420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7C8"/>
                </a:solidFill>
              </a:rPr>
              <a:t>CTO / Co-fundador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</a:rPr>
              <a:t>Arquitectura · Go + Next.js ·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40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Senior con experiencia en SaaS, APIs y
plataformas móviles. Dominio de arquitectura
clean code y despliegue en nube.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25880"/>
            <a:ext cx="3566160" cy="365760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25880"/>
            <a:ext cx="35661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1554480"/>
            <a:ext cx="1280160" cy="1280160"/>
          </a:xfrm>
          <a:prstGeom prst="ellipse">
            <a:avLst/>
          </a:prstGeom>
          <a:solidFill>
            <a:srgbClr val="2A4A6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166420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Asesor EHS /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A623"/>
                </a:solidFill>
              </a:rPr>
              <a:t>Normativa · NOMs · REPSE · STPS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Consultor certificado en seguridad industrial.
Ex-inspector STPS o auditor ISO 45001.
Red de contactos en parques industriales.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66360"/>
            <a:ext cx="11430000" cy="82296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Advisors estratégicos recomendados: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Corredor de seguros industriales  ·  Ex-director de parque industrial  ·  Abogado laboral especialista en subcontratación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⏰  ¿Por Qué Ahora?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El mercado está formado. El segmento PyME sigue sin solución. El costo de IA bajó 95%.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6616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Reforma de subcontratación
(REPSE obligatorio)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Las plantas DEBEN validar a sus contratistas por ley.
Antes de 2021 este negocio no existía.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356616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813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2022–25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STPS intensifica inspecciones.
Multas históricamente altas.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260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Los grandes competidores siguen ignorando
al segmento PyME industrial.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566160" cy="3474720"/>
          </a:xfrm>
          <a:prstGeom prst="rect">
            <a:avLst/>
          </a:prstGeom>
          <a:solidFill>
            <a:srgbClr val="14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356616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813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71"/>
                </a:solidFill>
              </a:rPr>
              <a:t>2026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57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Punto de inflexión.
IA accesible. Mercado formado.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9260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ASESAMO entra cuando el dolor es máximo
y la solución más barata que nunca.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🔵  +1.2M empresas registradas en el REPSE generan demanda permanente de validación documental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8581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🟢  El costo de analizar una foto o PDF con IA bajó un 95% desde 2022 (Gemini Flash: $0.0003 USD/análisis)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88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🟡  Ningún competidor ha lanzado una versión accesible para PyME con self-service onboarding en México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904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🔴  Las multas STPS en UMAs alcanzan niveles históricos; el ROI de este software es inmediato y medible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5A623"/>
                </a:solidFill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ASESAMO en una página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106070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10607040" cy="53035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🚨 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9047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Plantas industriales gestionan contratistas con Excel y carpetas, expuestas a multas STPS de hasta $1M MXN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93392"/>
            <a:ext cx="10607040" cy="530352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665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💡 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66544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SaaS que integra control QR de acceso + validación REPSE automática + dashboard legal en tiempo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69464"/>
            <a:ext cx="10607040" cy="53035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426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🎯  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426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~59,500 plantas en México. TAM $2,130M MXN/año. Foco inicial: PyME industrial del Bajío y Norte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45536"/>
            <a:ext cx="10607040" cy="530352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186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💰 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186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Suscripción $1,999–$16,000 MXN/mes + canal aliados 17.5% + add-on IA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721608"/>
            <a:ext cx="10607040" cy="53035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🏆  Ventaja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7947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Único en combinar: precio PyME + integración operativa-legal completa + IA para documentos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10607040" cy="530352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70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📊  Métricas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37083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LTV/CAC 66×  ·  Payback &lt; 2 meses  ·  Margen bruto infra 97%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73752"/>
            <a:ext cx="10607040" cy="53035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469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📈  Proyección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946904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58 clientes y ARR $3.2M MXN al mes 12  ·  108 clientes y ARR $5.9M MXN al mes 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449824"/>
            <a:ext cx="10607040" cy="530352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22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🧮  Inversión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52297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$500,000 MXN (~$25,000 USD) para 12 meses hasta break-even acumulado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6080760"/>
            <a:ext cx="10607040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6126480"/>
            <a:ext cx="10469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No vendemos software. Vendemos la única herramienta que evita que un director de planta reciba una multa de $500K MXN el lunes.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